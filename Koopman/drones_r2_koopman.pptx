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"/>
  </p:notesMasterIdLst>
  <p:sldIdLst>
    <p:sldId id="256" r:id="rId2"/>
    <p:sldId id="257" r:id="rId3"/>
    <p:sldId id="283" r:id="rId4"/>
    <p:sldId id="294" r:id="rId5"/>
    <p:sldId id="295" r:id="rId6"/>
    <p:sldId id="296" r:id="rId7"/>
    <p:sldId id="297" r:id="rId8"/>
    <p:sldId id="278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8114F"/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1640" dt="2026-10-20T19:27:43.55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780" autoAdjust="0"/>
    <p:restoredTop sz="94660"/>
  </p:normalViewPr>
  <p:slideViewPr>
    <p:cSldViewPr snapToGrid="0">
      <p:cViewPr varScale="1">
        <p:scale>
          <a:sx n="77" d="100"/>
          <a:sy n="77" d="100"/>
        </p:scale>
        <p:origin x="28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82518A-6CD7-487B-9894-8C4CEE2EA5F6}" type="datetimeFigureOut">
              <a:t>10/22/2026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D0C408-60A6-4115-9680-76783A8A136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43176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>
          <a:extLst>
            <a:ext uri="{FF2B5EF4-FFF2-40B4-BE49-F238E27FC236}">
              <a16:creationId xmlns:a16="http://schemas.microsoft.com/office/drawing/2014/main" id="{A8FB3EE0-C73C-C6AB-D5E3-6CAD62275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:notes">
            <a:extLst>
              <a:ext uri="{FF2B5EF4-FFF2-40B4-BE49-F238E27FC236}">
                <a16:creationId xmlns:a16="http://schemas.microsoft.com/office/drawing/2014/main" id="{81DB62BE-8622-8371-5856-9DC1D1E0D50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2:notes">
            <a:extLst>
              <a:ext uri="{FF2B5EF4-FFF2-40B4-BE49-F238E27FC236}">
                <a16:creationId xmlns:a16="http://schemas.microsoft.com/office/drawing/2014/main" id="{3CA0C370-E224-B22C-D0C9-4A630B570CE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956163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>
          <a:extLst>
            <a:ext uri="{FF2B5EF4-FFF2-40B4-BE49-F238E27FC236}">
              <a16:creationId xmlns:a16="http://schemas.microsoft.com/office/drawing/2014/main" id="{C4C738AF-F84C-ADC5-1113-AFDD39B5F8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:notes">
            <a:extLst>
              <a:ext uri="{FF2B5EF4-FFF2-40B4-BE49-F238E27FC236}">
                <a16:creationId xmlns:a16="http://schemas.microsoft.com/office/drawing/2014/main" id="{286A5ADF-8A01-C9A7-B211-2C0D7A5A00E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2:notes">
            <a:extLst>
              <a:ext uri="{FF2B5EF4-FFF2-40B4-BE49-F238E27FC236}">
                <a16:creationId xmlns:a16="http://schemas.microsoft.com/office/drawing/2014/main" id="{69DF5C64-7A82-9F63-A744-E306B9AF67F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709401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>
          <a:extLst>
            <a:ext uri="{FF2B5EF4-FFF2-40B4-BE49-F238E27FC236}">
              <a16:creationId xmlns:a16="http://schemas.microsoft.com/office/drawing/2014/main" id="{B518BD63-2E2D-7FCB-8536-37AB89AD24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:notes">
            <a:extLst>
              <a:ext uri="{FF2B5EF4-FFF2-40B4-BE49-F238E27FC236}">
                <a16:creationId xmlns:a16="http://schemas.microsoft.com/office/drawing/2014/main" id="{42627429-142A-E1EA-042A-09556700623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2:notes">
            <a:extLst>
              <a:ext uri="{FF2B5EF4-FFF2-40B4-BE49-F238E27FC236}">
                <a16:creationId xmlns:a16="http://schemas.microsoft.com/office/drawing/2014/main" id="{DC2398ED-213F-753B-D067-ABB7E0B1740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899646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>
          <a:extLst>
            <a:ext uri="{FF2B5EF4-FFF2-40B4-BE49-F238E27FC236}">
              <a16:creationId xmlns:a16="http://schemas.microsoft.com/office/drawing/2014/main" id="{46E1BA68-ACFF-1150-0D0F-34DBAD0A57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:notes">
            <a:extLst>
              <a:ext uri="{FF2B5EF4-FFF2-40B4-BE49-F238E27FC236}">
                <a16:creationId xmlns:a16="http://schemas.microsoft.com/office/drawing/2014/main" id="{7CB857BB-C4B8-BEBA-2FBF-24BBC9372E8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2:notes">
            <a:extLst>
              <a:ext uri="{FF2B5EF4-FFF2-40B4-BE49-F238E27FC236}">
                <a16:creationId xmlns:a16="http://schemas.microsoft.com/office/drawing/2014/main" id="{021507F3-2226-106D-342C-EF5213C574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035820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rs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7410BB7-D9A6-AA9E-3230-BBD1CB72929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811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pic>
        <p:nvPicPr>
          <p:cNvPr id="8" name="Picture 7" descr="A picture containing drawing">
            <a:extLst>
              <a:ext uri="{FF2B5EF4-FFF2-40B4-BE49-F238E27FC236}">
                <a16:creationId xmlns:a16="http://schemas.microsoft.com/office/drawing/2014/main" id="{ED0F4690-827E-99E4-3014-C130CD0CEB9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/>
          <a:stretch>
            <a:fillRect/>
          </a:stretch>
        </p:blipFill>
        <p:spPr>
          <a:xfrm>
            <a:off x="525805" y="2876438"/>
            <a:ext cx="4720751" cy="1136151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F34B1CD-6698-77DC-92B1-7792B9201112}"/>
              </a:ext>
            </a:extLst>
          </p:cNvPr>
          <p:cNvCxnSpPr/>
          <p:nvPr userDrawn="1"/>
        </p:nvCxnSpPr>
        <p:spPr>
          <a:xfrm>
            <a:off x="6113835" y="2176248"/>
            <a:ext cx="0" cy="2569663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90277E68-C3D6-93CD-948E-B47BB87672FE}"/>
              </a:ext>
            </a:extLst>
          </p:cNvPr>
          <p:cNvSpPr txBox="1"/>
          <p:nvPr userDrawn="1"/>
        </p:nvSpPr>
        <p:spPr>
          <a:xfrm>
            <a:off x="7292048" y="3250246"/>
            <a:ext cx="40155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School of AI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290F28-5C2F-3AF2-8312-C5FB519135F1}"/>
              </a:ext>
            </a:extLst>
          </p:cNvPr>
          <p:cNvSpPr txBox="1">
            <a:spLocks/>
          </p:cNvSpPr>
          <p:nvPr userDrawn="1"/>
        </p:nvSpPr>
        <p:spPr>
          <a:xfrm>
            <a:off x="875236" y="509297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endParaRPr lang="en-US" sz="3200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D439BC5A-CFE3-9C7B-8F3A-2719BEDFF3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321" y="474453"/>
            <a:ext cx="10515600" cy="1095556"/>
          </a:xfrm>
        </p:spPr>
        <p:txBody>
          <a:bodyPr anchor="ctr">
            <a:normAutofit/>
          </a:bodyPr>
          <a:lstStyle>
            <a:lvl1pPr algn="ctr"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488371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E25867C-1C39-CE78-DD34-F1592BA4AEBB}"/>
              </a:ext>
            </a:extLst>
          </p:cNvPr>
          <p:cNvSpPr/>
          <p:nvPr userDrawn="1"/>
        </p:nvSpPr>
        <p:spPr>
          <a:xfrm>
            <a:off x="0" y="1"/>
            <a:ext cx="12192000" cy="1439333"/>
          </a:xfrm>
          <a:prstGeom prst="rect">
            <a:avLst/>
          </a:prstGeom>
          <a:solidFill>
            <a:srgbClr val="B811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96" y="73211"/>
            <a:ext cx="11947585" cy="1325563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6522" y="1466491"/>
            <a:ext cx="11950460" cy="4891177"/>
          </a:xfrm>
        </p:spPr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26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77709" y="6364978"/>
            <a:ext cx="2743200" cy="365125"/>
          </a:xfrm>
        </p:spPr>
        <p:txBody>
          <a:bodyPr/>
          <a:lstStyle/>
          <a:p>
            <a:fld id="{89FD76E5-6B73-4921-B9EB-0F0945D892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50729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O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0037" y="172528"/>
            <a:ext cx="11800936" cy="61851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D76E5-6B73-4921-B9EB-0F0945D892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4668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542191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141D46A-3397-65AC-A62D-D953DA3374F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811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002633"/>
            <a:ext cx="10515600" cy="2852737"/>
          </a:xfrm>
        </p:spPr>
        <p:txBody>
          <a:bodyPr anchor="ctr">
            <a:normAutofit/>
          </a:bodyPr>
          <a:lstStyle>
            <a:lvl1pPr algn="ctr"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586445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3517" y="1423358"/>
            <a:ext cx="5916283" cy="49515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414732"/>
            <a:ext cx="5930660" cy="49601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D76E5-6B73-4921-B9EB-0F0945D892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05805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48135063-331A-4632-BA06-8077A63C53D8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D76E5-6B73-4921-B9EB-0F0945D892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56789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48135063-331A-4632-BA06-8077A63C53D8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D76E5-6B73-4921-B9EB-0F0945D892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75610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48135063-331A-4632-BA06-8077A63C53D8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D76E5-6B73-4921-B9EB-0F0945D892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14163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48135063-331A-4632-BA06-8077A63C53D8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D76E5-6B73-4921-B9EB-0F0945D892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28978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48135063-331A-4632-BA06-8077A63C53D8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D76E5-6B73-4921-B9EB-0F0945D892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07534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irst">
  <p:cSld name="First">
    <p:bg>
      <p:bgPr>
        <a:solidFill>
          <a:schemeClr val="lt1"/>
        </a:solid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8114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13;p13" descr="A picture containing drawi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25805" y="2876438"/>
            <a:ext cx="4720751" cy="113615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" name="Google Shape;14;p13"/>
          <p:cNvCxnSpPr/>
          <p:nvPr/>
        </p:nvCxnSpPr>
        <p:spPr>
          <a:xfrm>
            <a:off x="6113835" y="2176248"/>
            <a:ext cx="0" cy="2569663"/>
          </a:xfrm>
          <a:prstGeom prst="straightConnector1">
            <a:avLst/>
          </a:prstGeom>
          <a:noFill/>
          <a:ln w="9525" cap="flat" cmpd="sng">
            <a:solidFill>
              <a:srgbClr val="FFC00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5" name="Google Shape;15;p13"/>
          <p:cNvSpPr txBox="1"/>
          <p:nvPr/>
        </p:nvSpPr>
        <p:spPr>
          <a:xfrm>
            <a:off x="7292048" y="3250246"/>
            <a:ext cx="4015517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School of AI</a:t>
            </a:r>
            <a:endParaRPr/>
          </a:p>
        </p:txBody>
      </p:sp>
      <p:sp>
        <p:nvSpPr>
          <p:cNvPr id="16" name="Google Shape;16;p13"/>
          <p:cNvSpPr txBox="1"/>
          <p:nvPr/>
        </p:nvSpPr>
        <p:spPr>
          <a:xfrm>
            <a:off x="875236" y="5092972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imes New Roman"/>
              <a:buNone/>
            </a:pPr>
            <a:endParaRPr sz="3200" b="0" i="0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" name="Google Shape;17;p13"/>
          <p:cNvSpPr txBox="1">
            <a:spLocks noGrp="1"/>
          </p:cNvSpPr>
          <p:nvPr>
            <p:ph type="title"/>
          </p:nvPr>
        </p:nvSpPr>
        <p:spPr>
          <a:xfrm>
            <a:off x="812321" y="474453"/>
            <a:ext cx="10515600" cy="1095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imes New Roman"/>
              <a:buNone/>
              <a:defRPr sz="3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291766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8114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17"/>
          <p:cNvSpPr txBox="1">
            <a:spLocks noGrp="1"/>
          </p:cNvSpPr>
          <p:nvPr>
            <p:ph type="title"/>
          </p:nvPr>
        </p:nvSpPr>
        <p:spPr>
          <a:xfrm>
            <a:off x="838200" y="2002633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imes New Roman"/>
              <a:buNone/>
              <a:defRPr sz="3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031478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A39F6B5-49F2-4192-7516-544D643D5C1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8114F"/>
          </a:solidFill>
          <a:ln>
            <a:solidFill>
              <a:srgbClr val="B8114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583283A-E272-8F1E-0E55-C19E65D9F42B}"/>
              </a:ext>
            </a:extLst>
          </p:cNvPr>
          <p:cNvSpPr/>
          <p:nvPr userDrawn="1"/>
        </p:nvSpPr>
        <p:spPr>
          <a:xfrm>
            <a:off x="115768" y="69574"/>
            <a:ext cx="12006469" cy="6718852"/>
          </a:xfrm>
          <a:prstGeom prst="rect">
            <a:avLst/>
          </a:prstGeom>
          <a:solidFill>
            <a:schemeClr val="bg1"/>
          </a:solidFill>
          <a:ln>
            <a:solidFill>
              <a:srgbClr val="B8114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519" y="80456"/>
            <a:ext cx="1198496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019" y="1420183"/>
            <a:ext cx="11996467" cy="49633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35219" y="639085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FD76E5-6B73-4921-B9EB-0F0945D892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9279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2" r:id="rId3"/>
    <p:sldLayoutId id="2147483667" r:id="rId4"/>
    <p:sldLayoutId id="2147483663" r:id="rId5"/>
    <p:sldLayoutId id="2147483664" r:id="rId6"/>
    <p:sldLayoutId id="2147483665" r:id="rId7"/>
    <p:sldLayoutId id="2147483668" r:id="rId8"/>
    <p:sldLayoutId id="2147483669" r:id="rId9"/>
    <p:sldLayoutId id="2147483670" r:id="rId10"/>
    <p:sldLayoutId id="2147483671" r:id="rId11"/>
    <p:sldLayoutId id="2147483673" r:id="rId12"/>
    <p:sldLayoutId id="2147483674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"/>
          <p:cNvSpPr txBox="1"/>
          <p:nvPr/>
        </p:nvSpPr>
        <p:spPr>
          <a:xfrm>
            <a:off x="1017238" y="5131532"/>
            <a:ext cx="10147369" cy="1085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</a:pPr>
            <a:r>
              <a:rPr lang="en-US" sz="32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Supriya cb.sc.u4aie24025</a:t>
            </a:r>
            <a:endParaRPr lang="en-US" sz="3200" b="0" i="0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A01AF55-CA20-E3D0-99C0-7573F5A82F66}"/>
              </a:ext>
            </a:extLst>
          </p:cNvPr>
          <p:cNvSpPr txBox="1"/>
          <p:nvPr/>
        </p:nvSpPr>
        <p:spPr>
          <a:xfrm>
            <a:off x="2316707" y="824439"/>
            <a:ext cx="7673355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600" dirty="0">
                <a:solidFill>
                  <a:srgbClr val="FFFFFF"/>
                </a:solidFill>
                <a:latin typeface="Times New Roman"/>
                <a:cs typeface="Times New Roman"/>
              </a:rPr>
              <a:t>Koopman Operator: </a:t>
            </a:r>
            <a:r>
              <a:rPr lang="en-US" sz="3600">
                <a:solidFill>
                  <a:srgbClr val="FFFFFF"/>
                </a:solidFill>
                <a:latin typeface="Times New Roman"/>
                <a:cs typeface="Times New Roman"/>
              </a:rPr>
              <a:t>Modeling  nonlinear drone dynamics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"/>
          <p:cNvSpPr txBox="1">
            <a:spLocks noGrp="1"/>
          </p:cNvSpPr>
          <p:nvPr>
            <p:ph type="title"/>
          </p:nvPr>
        </p:nvSpPr>
        <p:spPr>
          <a:xfrm>
            <a:off x="129396" y="73211"/>
            <a:ext cx="11947585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US" sz="4400">
                <a:latin typeface="Times New Roman"/>
                <a:cs typeface="Times New Roman"/>
              </a:rPr>
              <a:t>Why Koopman</a:t>
            </a:r>
            <a:endParaRPr lang="en-US"/>
          </a:p>
        </p:txBody>
      </p:sp>
      <p:sp>
        <p:nvSpPr>
          <p:cNvPr id="83" name="Google Shape;83;p2"/>
          <p:cNvSpPr txBox="1">
            <a:spLocks noGrp="1"/>
          </p:cNvSpPr>
          <p:nvPr>
            <p:ph type="body" idx="1"/>
          </p:nvPr>
        </p:nvSpPr>
        <p:spPr>
          <a:xfrm>
            <a:off x="466338" y="2275667"/>
            <a:ext cx="5634622" cy="4045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Font typeface="Arial"/>
              <a:buChar char="•"/>
            </a:pPr>
            <a:r>
              <a:rPr lang="en-US" sz="2400">
                <a:latin typeface="Times New Roman"/>
                <a:cs typeface="Times New Roman"/>
              </a:rPr>
              <a:t>Drone motion involves position, velocity, orientation and control inputs.</a:t>
            </a:r>
            <a:endParaRPr lang="en-US" sz="2400"/>
          </a:p>
          <a:p>
            <a:pPr>
              <a:buFont typeface="Arial"/>
            </a:pPr>
            <a:r>
              <a:rPr lang="en-US" sz="2400">
                <a:latin typeface="Times New Roman"/>
                <a:cs typeface="Times New Roman"/>
              </a:rPr>
              <a:t>The relationship between state and next state can be nonlinear.</a:t>
            </a:r>
            <a:endParaRPr lang="en-US" sz="2400"/>
          </a:p>
          <a:p>
            <a:pPr>
              <a:buFont typeface="Arial"/>
            </a:pPr>
            <a:r>
              <a:rPr lang="en-US" sz="2400">
                <a:latin typeface="Times New Roman"/>
                <a:cs typeface="Times New Roman"/>
              </a:rPr>
              <a:t>Simple linear models may not capture complex dynamics accurately.</a:t>
            </a:r>
            <a:endParaRPr lang="en-US" sz="2400"/>
          </a:p>
          <a:p>
            <a:pPr>
              <a:buFont typeface="Arial"/>
            </a:pPr>
            <a:r>
              <a:rPr lang="en-US" sz="2400">
                <a:latin typeface="Times New Roman"/>
                <a:cs typeface="Times New Roman"/>
              </a:rPr>
              <a:t>Koopman represents system evolution through functions of the state.</a:t>
            </a:r>
            <a:endParaRPr lang="en-US" sz="2400"/>
          </a:p>
          <a:p>
            <a:pPr>
              <a:buNone/>
            </a:pPr>
            <a:endParaRPr lang="en-US" sz="24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50FCCA1-1688-79C6-98DE-D61FBCC2CA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7226" y="2272676"/>
            <a:ext cx="2987457" cy="70002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21522D8-5D7D-AB9C-2514-CF6377D90C18}"/>
              </a:ext>
            </a:extLst>
          </p:cNvPr>
          <p:cNvSpPr txBox="1"/>
          <p:nvPr/>
        </p:nvSpPr>
        <p:spPr>
          <a:xfrm>
            <a:off x="6597041" y="3261986"/>
            <a:ext cx="5480137" cy="24334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US" sz="2200" dirty="0" err="1">
                <a:latin typeface="Times New Roman"/>
                <a:cs typeface="Times New Roman"/>
              </a:rPr>
              <a:t>xk</a:t>
            </a:r>
            <a:r>
              <a:rPr lang="en-US" sz="2200" dirty="0">
                <a:latin typeface="Times New Roman"/>
                <a:cs typeface="Times New Roman"/>
              </a:rPr>
              <a:t>: drone's state at time step \(k\).</a:t>
            </a:r>
          </a:p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US" sz="2200">
                <a:latin typeface="Times New Roman"/>
                <a:cs typeface="Times New Roman"/>
              </a:rPr>
              <a:t>x(k+1): state at the next time step.</a:t>
            </a:r>
            <a:endParaRPr lang="en-US" sz="2200" dirty="0">
              <a:latin typeface="Times New Roman"/>
              <a:cs typeface="Times New Roman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US" sz="2200" dirty="0" err="1">
                <a:latin typeface="Times New Roman"/>
                <a:cs typeface="Times New Roman"/>
              </a:rPr>
              <a:t>uk</a:t>
            </a:r>
            <a:r>
              <a:rPr lang="en-US" sz="2200" dirty="0">
                <a:latin typeface="Times New Roman"/>
                <a:cs typeface="Times New Roman"/>
              </a:rPr>
              <a:t>: control input, such as a motor command.</a:t>
            </a:r>
          </a:p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US" sz="2200">
                <a:latin typeface="Times New Roman"/>
                <a:cs typeface="Times New Roman"/>
              </a:rPr>
              <a:t>F: function describing the system's state evolution.</a:t>
            </a:r>
            <a:endParaRPr lang="en-US" sz="2200" dirty="0">
              <a:latin typeface="Times New Roman"/>
              <a:cs typeface="Times New Roman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US" sz="2200">
                <a:latin typeface="Times New Roman"/>
                <a:cs typeface="Times New Roman"/>
              </a:rPr>
              <a:t>k: discrete time-step index.</a:t>
            </a:r>
            <a:endParaRPr lang="en-US" sz="22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>
          <a:extLst>
            <a:ext uri="{FF2B5EF4-FFF2-40B4-BE49-F238E27FC236}">
              <a16:creationId xmlns:a16="http://schemas.microsoft.com/office/drawing/2014/main" id="{5E098D89-CB9A-D001-EB6E-95EA45F760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">
            <a:extLst>
              <a:ext uri="{FF2B5EF4-FFF2-40B4-BE49-F238E27FC236}">
                <a16:creationId xmlns:a16="http://schemas.microsoft.com/office/drawing/2014/main" id="{9C315E6F-D43E-9C91-9CF9-BCE01184517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60711" y="114964"/>
            <a:ext cx="11947585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US" sz="4400">
                <a:latin typeface="Times New Roman"/>
                <a:cs typeface="Times New Roman"/>
              </a:rPr>
              <a:t>Koopman operator and Lifting</a:t>
            </a:r>
            <a:endParaRPr lang="en-US"/>
          </a:p>
        </p:txBody>
      </p:sp>
      <p:sp>
        <p:nvSpPr>
          <p:cNvPr id="83" name="Google Shape;83;p2">
            <a:extLst>
              <a:ext uri="{FF2B5EF4-FFF2-40B4-BE49-F238E27FC236}">
                <a16:creationId xmlns:a16="http://schemas.microsoft.com/office/drawing/2014/main" id="{B0C23B08-2A1F-61CE-6B2D-73F7DEAA3F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5491" y="1587014"/>
            <a:ext cx="6137055" cy="543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/>
              <a:t>1. Original dynamics</a:t>
            </a:r>
          </a:p>
          <a:p>
            <a:endParaRPr lang="en-US" dirty="0">
              <a:latin typeface="Times New Roman"/>
              <a:cs typeface="Times New Roman"/>
            </a:endParaRPr>
          </a:p>
          <a:p>
            <a:r>
              <a:rPr lang="en-US"/>
              <a:t>2. Define an observable</a:t>
            </a:r>
            <a:endParaRPr lang="en-US" sz="2400">
              <a:latin typeface="Times New Roman"/>
              <a:cs typeface="Times New Roman"/>
            </a:endParaRPr>
          </a:p>
          <a:p>
            <a:endParaRPr lang="en-US" dirty="0"/>
          </a:p>
          <a:p>
            <a:endParaRPr lang="en-US" dirty="0">
              <a:latin typeface="Times New Roman"/>
              <a:cs typeface="Times New Roman"/>
            </a:endParaRPr>
          </a:p>
          <a:p>
            <a:r>
              <a:rPr lang="en-US"/>
              <a:t>3. Koopman operator</a:t>
            </a:r>
            <a:endParaRPr lang="en-US" dirty="0"/>
          </a:p>
          <a:p>
            <a:endParaRPr lang="en-US" dirty="0"/>
          </a:p>
          <a:p>
            <a:endParaRPr lang="en-US" dirty="0">
              <a:latin typeface="Times New Roman"/>
              <a:cs typeface="Times New Roman"/>
            </a:endParaRPr>
          </a:p>
          <a:p>
            <a:r>
              <a:rPr lang="en-US"/>
              <a:t>4. Lift the state</a:t>
            </a:r>
            <a:endParaRPr lang="en-US" dirty="0"/>
          </a:p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8FE62F-5A76-309F-9909-78CF3DB26B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2584" y="1711760"/>
            <a:ext cx="1825929" cy="44911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1A2D9CF-1A60-A80A-665F-6509D9B65E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0246" y="3184482"/>
            <a:ext cx="2061836" cy="4785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5A366B8-7545-FBDB-19BC-6C23B6BBBD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11843" y="4741427"/>
            <a:ext cx="2278562" cy="62147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6451F12-0151-BB8F-A894-3CE157BB006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11804" y="6091108"/>
            <a:ext cx="1500774" cy="489950"/>
          </a:xfrm>
          <a:prstGeom prst="rect">
            <a:avLst/>
          </a:prstGeom>
        </p:spPr>
      </p:pic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FD943F13-F50D-8FBF-7FCB-3D006EFB18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3296030"/>
              </p:ext>
            </p:extLst>
          </p:nvPr>
        </p:nvGraphicFramePr>
        <p:xfrm>
          <a:off x="6920630" y="1440492"/>
          <a:ext cx="5070798" cy="5132487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153682">
                  <a:extLst>
                    <a:ext uri="{9D8B030D-6E8A-4147-A177-3AD203B41FA5}">
                      <a16:colId xmlns:a16="http://schemas.microsoft.com/office/drawing/2014/main" val="1848284030"/>
                    </a:ext>
                  </a:extLst>
                </a:gridCol>
                <a:gridCol w="3917116">
                  <a:extLst>
                    <a:ext uri="{9D8B030D-6E8A-4147-A177-3AD203B41FA5}">
                      <a16:colId xmlns:a16="http://schemas.microsoft.com/office/drawing/2014/main" val="1256133835"/>
                    </a:ext>
                  </a:extLst>
                </a:gridCol>
              </a:tblGrid>
              <a:tr h="6576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kern="120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Symbol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kern="120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Meaning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3001725"/>
                  </a:ext>
                </a:extLst>
              </a:tr>
              <a:tr h="44256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200" kern="120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kern="120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Original system state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9793862"/>
                  </a:ext>
                </a:extLst>
              </a:tr>
              <a:tr h="44256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200" kern="120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F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kern="120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State-transition function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9710633"/>
                  </a:ext>
                </a:extLst>
              </a:tr>
              <a:tr h="78679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200" kern="120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kern="120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A scalar-valued observable of the state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4728078"/>
                  </a:ext>
                </a:extLst>
              </a:tr>
              <a:tr h="44256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200" kern="120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kern="120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Koopman operator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1151192"/>
                  </a:ext>
                </a:extLst>
              </a:tr>
              <a:tr h="78679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200" kern="120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psi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kern="120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Vector of chosen observable functions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11375"/>
                  </a:ext>
                </a:extLst>
              </a:tr>
              <a:tr h="78679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200" kern="120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z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kern="120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Lifted state containing the observable values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221581"/>
                  </a:ext>
                </a:extLst>
              </a:tr>
              <a:tr h="78679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200" kern="120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kern="120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Discrete time index; the subscript indicates a time step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68716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448090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>
          <a:extLst>
            <a:ext uri="{FF2B5EF4-FFF2-40B4-BE49-F238E27FC236}">
              <a16:creationId xmlns:a16="http://schemas.microsoft.com/office/drawing/2014/main" id="{E844246B-4C1C-1C63-C7C2-68B16999C6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">
            <a:extLst>
              <a:ext uri="{FF2B5EF4-FFF2-40B4-BE49-F238E27FC236}">
                <a16:creationId xmlns:a16="http://schemas.microsoft.com/office/drawing/2014/main" id="{6701E98F-37AA-9AFC-286C-0B2F610A657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396" y="73211"/>
            <a:ext cx="11947585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US" sz="4400">
                <a:latin typeface="Times New Roman"/>
                <a:cs typeface="Times New Roman"/>
              </a:rPr>
              <a:t>Formulae- extended DMD</a:t>
            </a:r>
            <a:endParaRPr lang="en-US"/>
          </a:p>
        </p:txBody>
      </p:sp>
      <p:sp>
        <p:nvSpPr>
          <p:cNvPr id="83" name="Google Shape;83;p2">
            <a:extLst>
              <a:ext uri="{FF2B5EF4-FFF2-40B4-BE49-F238E27FC236}">
                <a16:creationId xmlns:a16="http://schemas.microsoft.com/office/drawing/2014/main" id="{2322963B-EAC5-24A0-F05B-C4956A5300C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61189" y="1513945"/>
            <a:ext cx="5489875" cy="5514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2200">
                <a:latin typeface="Times New Roman"/>
                <a:cs typeface="Times New Roman"/>
              </a:rPr>
              <a:t>EDMD estimates a finite-dim approximation of the Koopman operator from data.</a:t>
            </a:r>
          </a:p>
          <a:p>
            <a:endParaRPr lang="en-US" sz="600" dirty="0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US" sz="2400">
                <a:latin typeface="Times New Roman"/>
                <a:cs typeface="Times New Roman"/>
              </a:rPr>
              <a:t> 1. Collect state transitions 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>
                <a:latin typeface="Times New Roman"/>
                <a:cs typeface="Times New Roman"/>
              </a:rPr>
              <a:t> 2. Evaluate observables</a:t>
            </a:r>
          </a:p>
          <a:p>
            <a:pPr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>
                <a:latin typeface="Times New Roman"/>
                <a:cs typeface="Times New Roman"/>
              </a:rPr>
              <a:t> 3. Estimate the operator</a:t>
            </a:r>
            <a:endParaRPr lang="en-US" sz="2400" dirty="0">
              <a:latin typeface="Times New Roman"/>
              <a:cs typeface="Times New Roman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5CBFF81-64B0-1A74-755E-757E4F9A3B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0985" y="3048964"/>
            <a:ext cx="3082577" cy="45954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4F744DE-5E74-1BDF-5D2B-7FFDD7E6AB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28617" y="6207936"/>
            <a:ext cx="1230160" cy="39417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712CCDC-41A0-B7A4-3EF1-ABCCDFE570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92308" y="6165072"/>
            <a:ext cx="1314450" cy="4381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6CF0267-12F7-7FEC-7ACD-59EF5A54921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29700" y="4435241"/>
            <a:ext cx="2486025" cy="3905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1414268-32D3-2881-8E34-C3266D41FD3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29309" y="4998000"/>
            <a:ext cx="2695575" cy="371475"/>
          </a:xfrm>
          <a:prstGeom prst="rect">
            <a:avLst/>
          </a:prstGeom>
        </p:spPr>
      </p:pic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F91DCB5A-EC44-C534-9373-8D29C63A98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1405824"/>
              </p:ext>
            </p:extLst>
          </p:nvPr>
        </p:nvGraphicFramePr>
        <p:xfrm>
          <a:off x="6586602" y="1398739"/>
          <a:ext cx="5493332" cy="4114252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207676">
                  <a:extLst>
                    <a:ext uri="{9D8B030D-6E8A-4147-A177-3AD203B41FA5}">
                      <a16:colId xmlns:a16="http://schemas.microsoft.com/office/drawing/2014/main" val="4006971006"/>
                    </a:ext>
                  </a:extLst>
                </a:gridCol>
                <a:gridCol w="4285656">
                  <a:extLst>
                    <a:ext uri="{9D8B030D-6E8A-4147-A177-3AD203B41FA5}">
                      <a16:colId xmlns:a16="http://schemas.microsoft.com/office/drawing/2014/main" val="1248794728"/>
                    </a:ext>
                  </a:extLst>
                </a:gridCol>
              </a:tblGrid>
              <a:tr h="4002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kern="120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Symbol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kern="120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Meaning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9089993"/>
                  </a:ext>
                </a:extLst>
              </a:tr>
              <a:tr h="692744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000" kern="120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kern="120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Number of observed state transitions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2255981"/>
                  </a:ext>
                </a:extLst>
              </a:tr>
              <a:tr h="692744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000" kern="120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Psi(xi)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kern="120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Vector of observable values at state  (xi)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3809641"/>
                  </a:ext>
                </a:extLst>
              </a:tr>
              <a:tr h="40025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000" kern="120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Psi(X)</a:t>
                      </a:r>
                      <a:endParaRPr lang="en-US" sz="2000" kern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kern="120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Matrix of lifted current states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8133779"/>
                  </a:ext>
                </a:extLst>
              </a:tr>
              <a:tr h="40025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000" kern="120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Psi(Y)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kern="120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Matrix of lifted next states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5492232"/>
                  </a:ext>
                </a:extLst>
              </a:tr>
              <a:tr h="692744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000" kern="120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kern="120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Estimated finite-dimensional Koopman matrix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9829426"/>
                  </a:ext>
                </a:extLst>
              </a:tr>
              <a:tr h="400251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2000" kern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kern="120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Moore–Penrose pseudoinverse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0165795"/>
                  </a:ext>
                </a:extLst>
              </a:tr>
              <a:tr h="40025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000" kern="120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p</a:t>
                      </a:r>
                      <a:endParaRPr lang="en-US" sz="2000" kern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000" kern="120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no. of observables</a:t>
                      </a:r>
                      <a:endParaRPr lang="en-US" sz="2000" kern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9287447"/>
                  </a:ext>
                </a:extLst>
              </a:tr>
            </a:tbl>
          </a:graphicData>
        </a:graphic>
      </p:graphicFrame>
      <p:pic>
        <p:nvPicPr>
          <p:cNvPr id="13" name="Picture 12">
            <a:extLst>
              <a:ext uri="{FF2B5EF4-FFF2-40B4-BE49-F238E27FC236}">
                <a16:creationId xmlns:a16="http://schemas.microsoft.com/office/drawing/2014/main" id="{8A2468CF-4C54-305E-477F-726B27D6575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91691" y="4738884"/>
            <a:ext cx="407356" cy="37604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8D61F72-D3DB-D572-09A8-B7423671D0A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591866" y="5482682"/>
            <a:ext cx="1498817" cy="1289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75133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D47ED6-0298-6550-2F30-6247619D3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02F43-F18C-8C66-CD00-4C7119FD5A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How it connects to our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010D32-9EB4-4330-B3D9-ADBC280962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7802" y="1598571"/>
            <a:ext cx="11746708" cy="4759097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US" sz="1800" dirty="0">
              <a:ea typeface="SimSun" panose="02010600030101010101" pitchFamily="2" charset="-122"/>
            </a:endParaRPr>
          </a:p>
          <a:p>
            <a:endParaRPr lang="en-US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98EC9F-BD34-2A81-B673-5177E73A704B}"/>
              </a:ext>
            </a:extLst>
          </p:cNvPr>
          <p:cNvSpPr txBox="1"/>
          <p:nvPr/>
        </p:nvSpPr>
        <p:spPr>
          <a:xfrm>
            <a:off x="203200" y="1803400"/>
            <a:ext cx="3810000" cy="184665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ea typeface="+mn-lt"/>
                <a:cs typeface="+mn-lt"/>
              </a:rPr>
              <a:t>Drone state data</a:t>
            </a:r>
            <a:endParaRPr lang="en-US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lvl="1">
              <a:buFont typeface="Courier New"/>
              <a:buChar char="o"/>
            </a:pPr>
            <a:r>
              <a:rPr lang="en-US" sz="2400">
                <a:solidFill>
                  <a:srgbClr val="000000"/>
                </a:solidFill>
                <a:ea typeface="+mn-lt"/>
                <a:cs typeface="+mn-lt"/>
              </a:rPr>
              <a:t>Position, velocity, orientation and control inputs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lvl="1"/>
            <a:endParaRPr lang="en-US">
              <a:ea typeface="Calibri" panose="020F0502020204030204"/>
              <a:cs typeface="Calibri" panose="020F0502020204030204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896B5D-64FF-E0AF-4A98-FC9EB51AB301}"/>
              </a:ext>
            </a:extLst>
          </p:cNvPr>
          <p:cNvSpPr txBox="1"/>
          <p:nvPr/>
        </p:nvSpPr>
        <p:spPr>
          <a:xfrm>
            <a:off x="538480" y="4384040"/>
            <a:ext cx="5862320" cy="249299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>
                <a:ea typeface="+mn-lt"/>
                <a:cs typeface="+mn-lt"/>
              </a:rPr>
              <a:t>Advantages</a:t>
            </a:r>
          </a:p>
          <a:p>
            <a:pPr marL="228600" indent="-228600">
              <a:buFont typeface=""/>
              <a:buChar char="•"/>
            </a:pPr>
            <a:r>
              <a:rPr lang="en-US" sz="2200">
                <a:ea typeface="+mn-lt"/>
                <a:cs typeface="+mn-lt"/>
              </a:rPr>
              <a:t>Can represent nonlinear behavior in a lifted feature space.</a:t>
            </a:r>
          </a:p>
          <a:p>
            <a:pPr marL="228600" indent="-228600">
              <a:buFont typeface=""/>
              <a:buChar char="•"/>
            </a:pPr>
            <a:r>
              <a:rPr lang="en-US" sz="2200">
                <a:ea typeface="+mn-lt"/>
                <a:cs typeface="+mn-lt"/>
              </a:rPr>
              <a:t>Learns an approximate model from measured data.</a:t>
            </a:r>
          </a:p>
          <a:p>
            <a:pPr marL="228600" indent="-228600">
              <a:buFont typeface=""/>
              <a:buChar char="•"/>
            </a:pPr>
            <a:r>
              <a:rPr lang="en-US" sz="2200">
                <a:ea typeface="+mn-lt"/>
                <a:cs typeface="+mn-lt"/>
              </a:rPr>
              <a:t>Can support prediction and model-based control.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63C5107-042C-6CFD-EE06-537FEA497EE9}"/>
              </a:ext>
            </a:extLst>
          </p:cNvPr>
          <p:cNvSpPr txBox="1"/>
          <p:nvPr/>
        </p:nvSpPr>
        <p:spPr>
          <a:xfrm>
            <a:off x="6400800" y="4394200"/>
            <a:ext cx="5679440" cy="245175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>
              <a:buFont typeface=""/>
              <a:buChar char="•"/>
            </a:pPr>
            <a:r>
              <a:rPr lang="en-US" sz="2400">
                <a:ea typeface="+mn-lt"/>
                <a:cs typeface="+mn-lt"/>
              </a:rPr>
              <a:t>Limitations</a:t>
            </a:r>
          </a:p>
          <a:p>
            <a:pPr marL="228600" indent="-228600">
              <a:buFont typeface=""/>
              <a:buChar char="•"/>
            </a:pPr>
            <a:r>
              <a:rPr lang="en-US" sz="2200">
                <a:ea typeface="+mn-lt"/>
                <a:cs typeface="+mn-lt"/>
              </a:rPr>
              <a:t>Results depend on the chosen observables and quality of data.</a:t>
            </a:r>
          </a:p>
          <a:p>
            <a:pPr marL="228600" indent="-228600">
              <a:buFont typeface=""/>
              <a:buChar char="•"/>
            </a:pPr>
            <a:r>
              <a:rPr lang="en-US" sz="2200">
                <a:ea typeface="+mn-lt"/>
                <a:cs typeface="+mn-lt"/>
              </a:rPr>
              <a:t>A finite-dimensional approximation may be inaccurate.</a:t>
            </a:r>
          </a:p>
          <a:p>
            <a:pPr marL="228600" indent="-228600">
              <a:buFont typeface=""/>
              <a:buChar char="•"/>
            </a:pPr>
            <a:r>
              <a:rPr lang="en-US" sz="2200">
                <a:ea typeface="+mn-lt"/>
                <a:cs typeface="+mn-lt"/>
              </a:rPr>
              <a:t>Prediction errors can accumulate over time.</a:t>
            </a:r>
          </a:p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399C93-A8F8-C735-1B80-38F0E68BE118}"/>
              </a:ext>
            </a:extLst>
          </p:cNvPr>
          <p:cNvSpPr txBox="1"/>
          <p:nvPr/>
        </p:nvSpPr>
        <p:spPr>
          <a:xfrm>
            <a:off x="4013200" y="1793240"/>
            <a:ext cx="3810000" cy="19389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>
              <a:buFont typeface="Arial,Sans-Serif"/>
              <a:buChar char="•"/>
            </a:pPr>
            <a:r>
              <a:rPr lang="en-US" sz="2400" b="0" i="0" u="none" strike="noStrike" baseline="0">
                <a:solidFill>
                  <a:srgbClr val="000000"/>
                </a:solidFill>
                <a:latin typeface="Calibri"/>
                <a:ea typeface="Arial"/>
                <a:cs typeface="Arial"/>
              </a:rPr>
              <a:t>Learn an approximate model</a:t>
            </a:r>
            <a:r>
              <a:rPr lang="en-US" sz="2400" b="0" i="0">
                <a:solidFill>
                  <a:srgbClr val="000000"/>
                </a:solidFill>
                <a:latin typeface="Calibri"/>
                <a:ea typeface="Arial"/>
                <a:cs typeface="Arial"/>
              </a:rPr>
              <a:t>​</a:t>
            </a:r>
            <a:endParaRPr lang="en-US">
              <a:solidFill>
                <a:srgbClr val="000000"/>
              </a:solidFill>
              <a:latin typeface="Calibri"/>
              <a:ea typeface="Calibri" panose="020F0502020204030204"/>
              <a:cs typeface="Calibri" panose="020F0502020204030204"/>
            </a:endParaRPr>
          </a:p>
          <a:p>
            <a:pPr marL="685800" lvl="1" indent="-228600" algn="l">
              <a:buFont typeface="Courier New,monospace"/>
              <a:buChar char="o"/>
            </a:pPr>
            <a:r>
              <a:rPr lang="en-US" sz="2400" b="0" i="0" u="none" strike="noStrike" baseline="0">
                <a:solidFill>
                  <a:srgbClr val="000000"/>
                </a:solidFill>
                <a:latin typeface="Calibri"/>
                <a:ea typeface="Arial"/>
                <a:cs typeface="Arial"/>
              </a:rPr>
              <a:t>Use data-driven dynamics and suitable observables</a:t>
            </a:r>
            <a:r>
              <a:rPr lang="en-US" sz="2400" b="0" i="0">
                <a:solidFill>
                  <a:srgbClr val="000000"/>
                </a:solidFill>
                <a:latin typeface="Calibri"/>
                <a:ea typeface="Arial"/>
                <a:cs typeface="Arial"/>
              </a:rPr>
              <a:t>​</a:t>
            </a:r>
            <a:endParaRPr lang="en-US">
              <a:ea typeface="Calibri"/>
              <a:cs typeface="Calibr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22386B2-802C-F96F-D81E-8E39017E9F22}"/>
              </a:ext>
            </a:extLst>
          </p:cNvPr>
          <p:cNvSpPr txBox="1"/>
          <p:nvPr/>
        </p:nvSpPr>
        <p:spPr>
          <a:xfrm>
            <a:off x="7904480" y="1884680"/>
            <a:ext cx="4084320" cy="184665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>
              <a:buFont typeface="Arial,Sans-Serif"/>
              <a:buChar char="•"/>
            </a:pPr>
            <a:r>
              <a:rPr lang="en-US" sz="2400" b="0" i="0" u="none" strike="noStrike" baseline="0">
                <a:solidFill>
                  <a:srgbClr val="000000"/>
                </a:solidFill>
                <a:latin typeface="Calibri"/>
                <a:ea typeface="Arial"/>
                <a:cs typeface="Arial"/>
              </a:rPr>
              <a:t>Prediction and control​</a:t>
            </a:r>
            <a:r>
              <a:rPr lang="en-US" sz="2400" b="0" i="0">
                <a:solidFill>
                  <a:srgbClr val="000000"/>
                </a:solidFill>
                <a:latin typeface="Calibri"/>
                <a:ea typeface="Arial"/>
                <a:cs typeface="Arial"/>
              </a:rPr>
              <a:t>​</a:t>
            </a:r>
            <a:endParaRPr lang="en-US">
              <a:solidFill>
                <a:srgbClr val="000000"/>
              </a:solidFill>
              <a:latin typeface="Calibri"/>
              <a:ea typeface="Calibri" panose="020F0502020204030204"/>
              <a:cs typeface="Calibri" panose="020F0502020204030204"/>
            </a:endParaRPr>
          </a:p>
          <a:p>
            <a:pPr marL="685800" lvl="1" indent="-228600" algn="l">
              <a:buFont typeface="Courier New,monospace"/>
              <a:buChar char="o"/>
            </a:pPr>
            <a:r>
              <a:rPr lang="en-US" sz="2400" b="0" i="0" u="none" strike="noStrike" baseline="0">
                <a:solidFill>
                  <a:srgbClr val="000000"/>
                </a:solidFill>
                <a:latin typeface="Calibri"/>
                <a:ea typeface="Arial"/>
                <a:cs typeface="Arial"/>
              </a:rPr>
              <a:t>Use the model to predict future behavior and support control design​</a:t>
            </a:r>
            <a:r>
              <a:rPr lang="en-US" sz="2400" b="0" i="0">
                <a:solidFill>
                  <a:srgbClr val="000000"/>
                </a:solidFill>
                <a:latin typeface="Calibri"/>
                <a:ea typeface="Arial"/>
                <a:cs typeface="Arial"/>
              </a:rPr>
              <a:t>​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94807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>
          <a:extLst>
            <a:ext uri="{FF2B5EF4-FFF2-40B4-BE49-F238E27FC236}">
              <a16:creationId xmlns:a16="http://schemas.microsoft.com/office/drawing/2014/main" id="{90199D68-19EE-5795-28C0-9D8CF8AD70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">
            <a:extLst>
              <a:ext uri="{FF2B5EF4-FFF2-40B4-BE49-F238E27FC236}">
                <a16:creationId xmlns:a16="http://schemas.microsoft.com/office/drawing/2014/main" id="{3AB93A4F-DBB1-91A8-C138-901A7C2558D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396" y="73211"/>
            <a:ext cx="11947585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US" sz="4400">
                <a:latin typeface="Times New Roman"/>
                <a:cs typeface="Times New Roman"/>
              </a:rPr>
              <a:t>Why Koopman</a:t>
            </a:r>
            <a:endParaRPr lang="en-US"/>
          </a:p>
        </p:txBody>
      </p:sp>
      <p:sp>
        <p:nvSpPr>
          <p:cNvPr id="83" name="Google Shape;83;p2">
            <a:extLst>
              <a:ext uri="{FF2B5EF4-FFF2-40B4-BE49-F238E27FC236}">
                <a16:creationId xmlns:a16="http://schemas.microsoft.com/office/drawing/2014/main" id="{EB33857B-C91D-8A5C-4655-5067BB40E2B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66338" y="2275667"/>
            <a:ext cx="5634622" cy="4045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Font typeface="Arial"/>
              <a:buChar char="•"/>
            </a:pPr>
            <a:r>
              <a:rPr lang="en-US" sz="2400">
                <a:latin typeface="Times New Roman"/>
                <a:cs typeface="Times New Roman"/>
              </a:rPr>
              <a:t>Drone motion involves position, velocity, orientation and control inputs.</a:t>
            </a:r>
            <a:endParaRPr lang="en-US" sz="2400"/>
          </a:p>
          <a:p>
            <a:pPr>
              <a:buFont typeface="Arial"/>
            </a:pPr>
            <a:r>
              <a:rPr lang="en-US" sz="2400">
                <a:latin typeface="Times New Roman"/>
                <a:cs typeface="Times New Roman"/>
              </a:rPr>
              <a:t>The relationship between state and next state can be nonlinear.</a:t>
            </a:r>
            <a:endParaRPr lang="en-US" sz="2400"/>
          </a:p>
          <a:p>
            <a:pPr>
              <a:buFont typeface="Arial"/>
            </a:pPr>
            <a:r>
              <a:rPr lang="en-US" sz="2400">
                <a:latin typeface="Times New Roman"/>
                <a:cs typeface="Times New Roman"/>
              </a:rPr>
              <a:t>Simple linear models may not capture complex dynamics accurately.</a:t>
            </a:r>
            <a:endParaRPr lang="en-US" sz="2400"/>
          </a:p>
          <a:p>
            <a:pPr>
              <a:buFont typeface="Arial"/>
            </a:pPr>
            <a:r>
              <a:rPr lang="en-US" sz="2400">
                <a:latin typeface="Times New Roman"/>
                <a:cs typeface="Times New Roman"/>
              </a:rPr>
              <a:t>Koopman represents system evolution through functions of the state.</a:t>
            </a:r>
            <a:endParaRPr lang="en-US" sz="2400"/>
          </a:p>
          <a:p>
            <a:pPr>
              <a:buNone/>
            </a:pPr>
            <a:endParaRPr lang="en-US" sz="24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06EC336-B445-7D80-474C-2B187678EA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7226" y="2272676"/>
            <a:ext cx="2987457" cy="70002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9453A42-A8DF-8215-6F5A-E27FE19B99C4}"/>
              </a:ext>
            </a:extLst>
          </p:cNvPr>
          <p:cNvSpPr txBox="1"/>
          <p:nvPr/>
        </p:nvSpPr>
        <p:spPr>
          <a:xfrm>
            <a:off x="6597041" y="3261986"/>
            <a:ext cx="5480137" cy="24334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US" sz="2200" dirty="0" err="1">
                <a:latin typeface="Times New Roman"/>
                <a:cs typeface="Times New Roman"/>
              </a:rPr>
              <a:t>xk</a:t>
            </a:r>
            <a:r>
              <a:rPr lang="en-US" sz="2200" dirty="0">
                <a:latin typeface="Times New Roman"/>
                <a:cs typeface="Times New Roman"/>
              </a:rPr>
              <a:t>: drone's state at time step \(k\).</a:t>
            </a:r>
          </a:p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US" sz="2200">
                <a:latin typeface="Times New Roman"/>
                <a:cs typeface="Times New Roman"/>
              </a:rPr>
              <a:t>x(k+1): state at the next time step.</a:t>
            </a:r>
            <a:endParaRPr lang="en-US" sz="2200" dirty="0">
              <a:latin typeface="Times New Roman"/>
              <a:cs typeface="Times New Roman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US" sz="2200" dirty="0" err="1">
                <a:latin typeface="Times New Roman"/>
                <a:cs typeface="Times New Roman"/>
              </a:rPr>
              <a:t>uk</a:t>
            </a:r>
            <a:r>
              <a:rPr lang="en-US" sz="2200" dirty="0">
                <a:latin typeface="Times New Roman"/>
                <a:cs typeface="Times New Roman"/>
              </a:rPr>
              <a:t>: control input, such as a motor command.</a:t>
            </a:r>
          </a:p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US" sz="2200">
                <a:latin typeface="Times New Roman"/>
                <a:cs typeface="Times New Roman"/>
              </a:rPr>
              <a:t>F: function describing the system's state evolution.</a:t>
            </a:r>
            <a:endParaRPr lang="en-US" sz="2200" dirty="0">
              <a:latin typeface="Times New Roman"/>
              <a:cs typeface="Times New Roman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US" sz="2200">
                <a:latin typeface="Times New Roman"/>
                <a:cs typeface="Times New Roman"/>
              </a:rPr>
              <a:t>k: discrete time-step index.</a:t>
            </a:r>
            <a:endParaRPr lang="en-US" sz="22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6373333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>
          <a:extLst>
            <a:ext uri="{FF2B5EF4-FFF2-40B4-BE49-F238E27FC236}">
              <a16:creationId xmlns:a16="http://schemas.microsoft.com/office/drawing/2014/main" id="{8291E9A1-AE4C-BFB7-CF9C-3E5595CD58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">
            <a:extLst>
              <a:ext uri="{FF2B5EF4-FFF2-40B4-BE49-F238E27FC236}">
                <a16:creationId xmlns:a16="http://schemas.microsoft.com/office/drawing/2014/main" id="{14A4067A-60B0-3ACA-1C3F-353F45C9703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396" y="73211"/>
            <a:ext cx="11947585" cy="4635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2800" dirty="0">
                <a:latin typeface="Times New Roman"/>
                <a:cs typeface="Times New Roman"/>
              </a:rPr>
              <a:t>Notes.. Please find the transcribed notes in the uploaded pdf for readability </a:t>
            </a:r>
            <a:r>
              <a:rPr lang="en-US" sz="2800" dirty="0">
                <a:latin typeface="Times New Roman"/>
                <a:cs typeface="Times New Roman"/>
                <a:sym typeface="Wingdings" panose="05000000000000000000" pitchFamily="2" charset="2"/>
              </a:rPr>
              <a:t></a:t>
            </a:r>
            <a:endParaRPr lang="en-US" sz="2000" dirty="0"/>
          </a:p>
        </p:txBody>
      </p:sp>
      <p:sp>
        <p:nvSpPr>
          <p:cNvPr id="83" name="Google Shape;83;p2">
            <a:extLst>
              <a:ext uri="{FF2B5EF4-FFF2-40B4-BE49-F238E27FC236}">
                <a16:creationId xmlns:a16="http://schemas.microsoft.com/office/drawing/2014/main" id="{C576472F-7C4A-DF3D-F5AE-AFBCCB38D5F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66338" y="2275667"/>
            <a:ext cx="5634622" cy="4045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None/>
            </a:pPr>
            <a:endParaRPr lang="en-US" sz="24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10C0903-42F9-BA9B-C002-C71C5577DD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63" y="637306"/>
            <a:ext cx="4680099" cy="622069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89BF79C-D683-0DB0-036E-621103639B5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0638" y="615142"/>
            <a:ext cx="4680099" cy="622069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7570AC2-940F-3E1A-302A-AE1A47E074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1988" y="637307"/>
            <a:ext cx="3781953" cy="6220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37058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85D029-C950-819F-C4E7-56D052448F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831" y="958798"/>
            <a:ext cx="11653380" cy="4627256"/>
          </a:xfrm>
        </p:spPr>
        <p:txBody>
          <a:bodyPr/>
          <a:lstStyle/>
          <a:p>
            <a:r>
              <a:rPr lang="en-US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18301113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mrita PPT layout.potx" id="{C7F1AD9B-EE35-4510-A20E-70353F287359}" vid="{B1421631-CB78-46E0-AEFF-C83D2D0094D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Amrita PPT layout</Template>
  <TotalTime>556</TotalTime>
  <Words>465</Words>
  <Application>Microsoft Office PowerPoint</Application>
  <PresentationFormat>Widescreen</PresentationFormat>
  <Paragraphs>91</Paragraphs>
  <Slides>8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SimSun</vt:lpstr>
      <vt:lpstr>Arial</vt:lpstr>
      <vt:lpstr>Arial,Sans-Serif</vt:lpstr>
      <vt:lpstr>Calibri</vt:lpstr>
      <vt:lpstr>Courier New</vt:lpstr>
      <vt:lpstr>Courier New,monospace</vt:lpstr>
      <vt:lpstr>Times New Roman</vt:lpstr>
      <vt:lpstr>Office Theme</vt:lpstr>
      <vt:lpstr>PowerPoint Presentation</vt:lpstr>
      <vt:lpstr>Why Koopman</vt:lpstr>
      <vt:lpstr>Koopman operator and Lifting</vt:lpstr>
      <vt:lpstr>Formulae- extended DMD</vt:lpstr>
      <vt:lpstr>How it connects to our project</vt:lpstr>
      <vt:lpstr>Why Koopman</vt:lpstr>
      <vt:lpstr>Notes.. Please find the transcribed notes in the uploaded pdf for readability 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Recommendation Systems using SVD</dc:title>
  <dc:creator>Ashik Suresh - [CEN - ASAI]</dc:creator>
  <cp:lastModifiedBy>Supriya K</cp:lastModifiedBy>
  <cp:revision>465</cp:revision>
  <dcterms:created xsi:type="dcterms:W3CDTF">2024-11-19T05:18:29Z</dcterms:created>
  <dcterms:modified xsi:type="dcterms:W3CDTF">2026-10-22T18:12:34Z</dcterms:modified>
</cp:coreProperties>
</file>